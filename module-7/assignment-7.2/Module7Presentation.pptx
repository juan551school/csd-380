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59" r:id="rId4"/>
    <p:sldId id="260" r:id="rId5"/>
    <p:sldId id="261" r:id="rId6"/>
    <p:sldId id="262" r:id="rId7"/>
    <p:sldId id="263" r:id="rId8"/>
    <p:sldId id="264" r:id="rId9"/>
    <p:sldId id="265" r:id="rId10"/>
    <p:sldId id="266"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96" autoAdjust="0"/>
    <p:restoredTop sz="94660"/>
  </p:normalViewPr>
  <p:slideViewPr>
    <p:cSldViewPr>
      <p:cViewPr varScale="1">
        <p:scale>
          <a:sx n="82" d="100"/>
          <a:sy n="82" d="100"/>
        </p:scale>
        <p:origin x="826" y="7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2/22/2026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2/22/2026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2/22/2026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2/22/2026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2/22/2026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2/22/2026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2/22/2026</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2/22/2026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2/22/2026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2/22/2026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2/22/2026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2/22/2026</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oneuptime.com/blog/post/2026-02-02-on-call-rotations/view" TargetMode="External"/><Relationship Id="rId2" Type="http://schemas.openxmlformats.org/officeDocument/2006/relationships/hyperlink" Target="https://www.pagerduty.com/resources/incident-management-response/learn/call-rotations-schedules/" TargetMode="External"/><Relationship Id="rId1" Type="http://schemas.openxmlformats.org/officeDocument/2006/relationships/slideLayout" Target="../slideLayouts/slideLayout2.xml"/><Relationship Id="rId5" Type="http://schemas.openxmlformats.org/officeDocument/2006/relationships/hyperlink" Target="https://upstat.io/blog/on-call-schedule-best-practices" TargetMode="External"/><Relationship Id="rId4" Type="http://schemas.openxmlformats.org/officeDocument/2006/relationships/hyperlink" Target="https://medium.com/%40squadcast/on-call-rotation-a-complete-guide-to-best-practices-997b0da5449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Pager Rotation Duties in DevOps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Industry Best Practices &amp; Operational Insights</a:t>
            </a:r>
            <a:endParaRPr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66800" y="4724400"/>
            <a:ext cx="10744200" cy="1066800"/>
          </a:xfrm>
        </p:spPr>
        <p:txBody>
          <a:bodyPr>
            <a:normAutofit fontScale="85000" lnSpcReduction="20000"/>
          </a:bodyPr>
          <a:lstStyle/>
          <a:p>
            <a:pPr algn="r"/>
            <a:r>
              <a:rPr lang="en-US" dirty="0"/>
              <a:t>Juan Macias Vasquez</a:t>
            </a:r>
          </a:p>
          <a:p>
            <a:pPr algn="r"/>
            <a:r>
              <a:rPr lang="en-US" dirty="0"/>
              <a:t>Bellevue University</a:t>
            </a:r>
          </a:p>
          <a:p>
            <a:pPr algn="r"/>
            <a:r>
              <a:rPr lang="en-US" dirty="0"/>
              <a:t>CSD380-H323 DevOps (2265-DD)</a:t>
            </a:r>
          </a:p>
          <a:p>
            <a:pPr algn="r"/>
            <a:r>
              <a:rPr lang="en-US" dirty="0"/>
              <a:t>Adam Bailey</a:t>
            </a:r>
          </a:p>
          <a:p>
            <a:pPr algn="r"/>
            <a:r>
              <a:rPr lang="en-US" dirty="0"/>
              <a:t>February 21st, 2026</a:t>
            </a:r>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D69D-5284-4FEC-3D9C-763113D3AE5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What Are Pager Rotation Duties?</a:t>
            </a:r>
          </a:p>
        </p:txBody>
      </p:sp>
      <p:sp>
        <p:nvSpPr>
          <p:cNvPr id="3" name="Content Placeholder 2">
            <a:extLst>
              <a:ext uri="{FF2B5EF4-FFF2-40B4-BE49-F238E27FC236}">
                <a16:creationId xmlns:a16="http://schemas.microsoft.com/office/drawing/2014/main" id="{A8995978-E32F-690B-CF88-B46ED9AC39F3}"/>
              </a:ext>
            </a:extLst>
          </p:cNvPr>
          <p:cNvSpPr>
            <a:spLocks noGrp="1"/>
          </p:cNvSpPr>
          <p:nvPr>
            <p:ph idx="1"/>
          </p:nvPr>
        </p:nvSpPr>
        <p:spPr/>
        <p:txBody>
          <a:bodyPr>
            <a:normAutofit/>
          </a:bodyPr>
          <a:lstStyle/>
          <a:p>
            <a:pPr>
              <a:spcBef>
                <a:spcPts val="600"/>
              </a:spcBef>
            </a:pPr>
            <a:r>
              <a:rPr lang="en-US" sz="2400" dirty="0">
                <a:latin typeface="Times New Roman" panose="02020603050405020304" pitchFamily="18" charset="0"/>
                <a:cs typeface="Times New Roman" panose="02020603050405020304" pitchFamily="18" charset="0"/>
              </a:rPr>
              <a:t>Definition</a:t>
            </a:r>
          </a:p>
          <a:p>
            <a:pPr marL="0" indent="0">
              <a:spcBef>
                <a:spcPts val="600"/>
              </a:spcBef>
              <a:buNone/>
            </a:pPr>
            <a:r>
              <a:rPr lang="en-US" sz="2400" dirty="0">
                <a:latin typeface="Times New Roman" panose="02020603050405020304" pitchFamily="18" charset="0"/>
                <a:cs typeface="Times New Roman" panose="02020603050405020304" pitchFamily="18" charset="0"/>
              </a:rPr>
              <a:t>Pager rotation duties usually means to as on-call rotations that are scheduled responsibilities where the team members take turns monitoring systems and responding to incidents outside normal working hours. This make sure reliability and system uptime are in production environments.</a:t>
            </a:r>
          </a:p>
          <a:p>
            <a:pPr marL="0" indent="0">
              <a:spcBef>
                <a:spcPts val="600"/>
              </a:spcBef>
              <a:buNone/>
            </a:pPr>
            <a:endParaRPr lang="en-US" sz="2400" dirty="0">
              <a:latin typeface="Times New Roman" panose="02020603050405020304" pitchFamily="18" charset="0"/>
              <a:cs typeface="Times New Roman" panose="02020603050405020304" pitchFamily="18" charset="0"/>
            </a:endParaRPr>
          </a:p>
          <a:p>
            <a:pPr>
              <a:spcBef>
                <a:spcPts val="600"/>
              </a:spcBef>
            </a:pPr>
            <a:r>
              <a:rPr lang="en-US" sz="2400" dirty="0">
                <a:latin typeface="Times New Roman" panose="02020603050405020304" pitchFamily="18" charset="0"/>
                <a:cs typeface="Times New Roman" panose="02020603050405020304" pitchFamily="18" charset="0"/>
              </a:rPr>
              <a:t>Context in DevOps</a:t>
            </a:r>
          </a:p>
          <a:p>
            <a:pPr marL="0" indent="0">
              <a:spcBef>
                <a:spcPts val="600"/>
              </a:spcBef>
              <a:buNone/>
            </a:pPr>
            <a:r>
              <a:rPr lang="en-US" sz="2400" dirty="0">
                <a:latin typeface="Times New Roman" panose="02020603050405020304" pitchFamily="18" charset="0"/>
                <a:cs typeface="Times New Roman" panose="02020603050405020304" pitchFamily="18" charset="0"/>
              </a:rPr>
              <a:t>Critical part of DevOps and Site Reliability Engineering (SRE) to balance operational readiness with team sustainability.</a:t>
            </a:r>
          </a:p>
        </p:txBody>
      </p:sp>
    </p:spTree>
    <p:extLst>
      <p:ext uri="{BB962C8B-B14F-4D97-AF65-F5344CB8AC3E}">
        <p14:creationId xmlns:p14="http://schemas.microsoft.com/office/powerpoint/2010/main" val="40298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30F14-F0F9-00F3-C250-D0D4159004B9}"/>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Why Pager Rotation Duties Matter</a:t>
            </a:r>
          </a:p>
        </p:txBody>
      </p:sp>
      <p:sp>
        <p:nvSpPr>
          <p:cNvPr id="3" name="Content Placeholder 2">
            <a:extLst>
              <a:ext uri="{FF2B5EF4-FFF2-40B4-BE49-F238E27FC236}">
                <a16:creationId xmlns:a16="http://schemas.microsoft.com/office/drawing/2014/main" id="{2D2F188C-5649-084B-D718-CF6E75D072ED}"/>
              </a:ext>
            </a:extLst>
          </p:cNvPr>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Key Goals:</a:t>
            </a:r>
          </a:p>
          <a:p>
            <a:r>
              <a:rPr lang="en-US" sz="2800" dirty="0">
                <a:latin typeface="Times New Roman" panose="02020603050405020304" pitchFamily="18" charset="0"/>
                <a:cs typeface="Times New Roman" panose="02020603050405020304" pitchFamily="18" charset="0"/>
              </a:rPr>
              <a:t>Make sure there is a continuous 24×7 operational coverage</a:t>
            </a:r>
          </a:p>
          <a:p>
            <a:r>
              <a:rPr lang="en-US" sz="2800" dirty="0">
                <a:latin typeface="Times New Roman" panose="02020603050405020304" pitchFamily="18" charset="0"/>
                <a:cs typeface="Times New Roman" panose="02020603050405020304" pitchFamily="18" charset="0"/>
              </a:rPr>
              <a:t>Minimize the downtime for customers</a:t>
            </a:r>
          </a:p>
          <a:p>
            <a:r>
              <a:rPr lang="en-US" sz="2800" dirty="0">
                <a:latin typeface="Times New Roman" panose="02020603050405020304" pitchFamily="18" charset="0"/>
                <a:cs typeface="Times New Roman" panose="02020603050405020304" pitchFamily="18" charset="0"/>
              </a:rPr>
              <a:t>Provide structured response paths during incidents</a:t>
            </a:r>
          </a:p>
          <a:p>
            <a:r>
              <a:rPr lang="en-US" sz="2800" dirty="0">
                <a:latin typeface="Times New Roman" panose="02020603050405020304" pitchFamily="18" charset="0"/>
                <a:cs typeface="Times New Roman" panose="02020603050405020304" pitchFamily="18" charset="0"/>
              </a:rPr>
              <a:t>Balance workload among team members</a:t>
            </a:r>
          </a:p>
        </p:txBody>
      </p:sp>
    </p:spTree>
    <p:extLst>
      <p:ext uri="{BB962C8B-B14F-4D97-AF65-F5344CB8AC3E}">
        <p14:creationId xmlns:p14="http://schemas.microsoft.com/office/powerpoint/2010/main" val="2291967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5E5E0-8861-DB9C-F264-898745E659E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Best Practice for Structured Scheduling</a:t>
            </a:r>
          </a:p>
        </p:txBody>
      </p:sp>
      <p:sp>
        <p:nvSpPr>
          <p:cNvPr id="3" name="Content Placeholder 2">
            <a:extLst>
              <a:ext uri="{FF2B5EF4-FFF2-40B4-BE49-F238E27FC236}">
                <a16:creationId xmlns:a16="http://schemas.microsoft.com/office/drawing/2014/main" id="{3AC46992-72F3-922A-B32D-1A901321F208}"/>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Rotation Cadence:</a:t>
            </a:r>
          </a:p>
          <a:p>
            <a:r>
              <a:rPr lang="en-US" sz="2400" dirty="0">
                <a:latin typeface="Times New Roman" panose="02020603050405020304" pitchFamily="18" charset="0"/>
                <a:cs typeface="Times New Roman" panose="02020603050405020304" pitchFamily="18" charset="0"/>
              </a:rPr>
              <a:t>Weekly, biweekly, or tailored to team size</a:t>
            </a:r>
          </a:p>
          <a:p>
            <a:r>
              <a:rPr lang="en-US" sz="2400" dirty="0">
                <a:latin typeface="Times New Roman" panose="02020603050405020304" pitchFamily="18" charset="0"/>
                <a:cs typeface="Times New Roman" panose="02020603050405020304" pitchFamily="18" charset="0"/>
              </a:rPr>
              <a:t>Clear schedule published in advance usually 4–6 weeks early</a:t>
            </a:r>
          </a:p>
          <a:p>
            <a:pPr marL="0" indent="0">
              <a:buNone/>
            </a:pPr>
            <a:r>
              <a:rPr lang="en-US" sz="2400" dirty="0">
                <a:latin typeface="Times New Roman" panose="02020603050405020304" pitchFamily="18" charset="0"/>
                <a:cs typeface="Times New Roman" panose="02020603050405020304" pitchFamily="18" charset="0"/>
              </a:rPr>
              <a:t>Primary + Secondary Coverage:</a:t>
            </a:r>
          </a:p>
          <a:p>
            <a:r>
              <a:rPr lang="en-US" sz="2400" dirty="0">
                <a:latin typeface="Times New Roman" panose="02020603050405020304" pitchFamily="18" charset="0"/>
                <a:cs typeface="Times New Roman" panose="02020603050405020304" pitchFamily="18" charset="0"/>
              </a:rPr>
              <a:t>Primary on-call responder</a:t>
            </a:r>
          </a:p>
          <a:p>
            <a:r>
              <a:rPr lang="en-US" sz="2400" dirty="0">
                <a:latin typeface="Times New Roman" panose="02020603050405020304" pitchFamily="18" charset="0"/>
                <a:cs typeface="Times New Roman" panose="02020603050405020304" pitchFamily="18" charset="0"/>
              </a:rPr>
              <a:t>Backup in case primary is unavailable</a:t>
            </a:r>
          </a:p>
          <a:p>
            <a:pPr marL="0" indent="0">
              <a:buNone/>
            </a:pPr>
            <a:r>
              <a:rPr lang="en-US" sz="2400" dirty="0">
                <a:latin typeface="Times New Roman" panose="02020603050405020304" pitchFamily="18" charset="0"/>
                <a:cs typeface="Times New Roman" panose="02020603050405020304" pitchFamily="18" charset="0"/>
              </a:rPr>
              <a:t>Enhances reliability and reduces missed pages.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9603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74BF-CF38-6BEC-EB5B-7182BE64FE8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Time Zones and Global Teams</a:t>
            </a:r>
          </a:p>
        </p:txBody>
      </p:sp>
      <p:sp>
        <p:nvSpPr>
          <p:cNvPr id="3" name="Content Placeholder 2">
            <a:extLst>
              <a:ext uri="{FF2B5EF4-FFF2-40B4-BE49-F238E27FC236}">
                <a16:creationId xmlns:a16="http://schemas.microsoft.com/office/drawing/2014/main" id="{B770CA05-7AF8-6306-F010-F92FE06F3326}"/>
              </a:ext>
            </a:extLst>
          </p:cNvPr>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Follow-the-Sun Model:</a:t>
            </a:r>
          </a:p>
          <a:p>
            <a:r>
              <a:rPr lang="en-US" sz="2800" dirty="0">
                <a:latin typeface="Times New Roman" panose="02020603050405020304" pitchFamily="18" charset="0"/>
                <a:cs typeface="Times New Roman" panose="02020603050405020304" pitchFamily="18" charset="0"/>
              </a:rPr>
              <a:t>Assign regional rotations like APAC, EMEA, or AMER to optimize coverage without excessive night calls.</a:t>
            </a:r>
          </a:p>
          <a:p>
            <a:pPr marL="0" indent="0">
              <a:buNone/>
            </a:pPr>
            <a:r>
              <a:rPr lang="en-US" sz="2800" dirty="0">
                <a:latin typeface="Times New Roman" panose="02020603050405020304" pitchFamily="18" charset="0"/>
                <a:cs typeface="Times New Roman" panose="02020603050405020304" pitchFamily="18" charset="0"/>
              </a:rPr>
              <a:t>UTC Scheduling:</a:t>
            </a:r>
          </a:p>
          <a:p>
            <a:r>
              <a:rPr lang="en-US" sz="2800" dirty="0">
                <a:latin typeface="Times New Roman" panose="02020603050405020304" pitchFamily="18" charset="0"/>
                <a:cs typeface="Times New Roman" panose="02020603050405020304" pitchFamily="18" charset="0"/>
              </a:rPr>
              <a:t>Use UTC internally for consistency across time zones.</a:t>
            </a:r>
            <a:endParaRPr lang="en-US" sz="24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That way you don’t forget time differences or things like daylight saving changing a schedule. </a:t>
            </a:r>
          </a:p>
        </p:txBody>
      </p:sp>
    </p:spTree>
    <p:extLst>
      <p:ext uri="{BB962C8B-B14F-4D97-AF65-F5344CB8AC3E}">
        <p14:creationId xmlns:p14="http://schemas.microsoft.com/office/powerpoint/2010/main" val="1341672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2268-974B-25F4-2A0E-20E433FCE51B}"/>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Work and Life Balance</a:t>
            </a:r>
          </a:p>
        </p:txBody>
      </p:sp>
      <p:sp>
        <p:nvSpPr>
          <p:cNvPr id="3" name="Content Placeholder 2">
            <a:extLst>
              <a:ext uri="{FF2B5EF4-FFF2-40B4-BE49-F238E27FC236}">
                <a16:creationId xmlns:a16="http://schemas.microsoft.com/office/drawing/2014/main" id="{1F449A66-A35D-679B-0A04-CAA29B6FAA29}"/>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Equitable Rotations</a:t>
            </a:r>
          </a:p>
          <a:p>
            <a:r>
              <a:rPr lang="en-US" sz="2400" dirty="0">
                <a:latin typeface="Times New Roman" panose="02020603050405020304" pitchFamily="18" charset="0"/>
                <a:cs typeface="Times New Roman" panose="02020603050405020304" pitchFamily="18" charset="0"/>
              </a:rPr>
              <a:t>Limit frequency by trying not to put a few engineers on call too often.</a:t>
            </a:r>
          </a:p>
          <a:p>
            <a:r>
              <a:rPr lang="en-US" sz="2400" dirty="0">
                <a:latin typeface="Times New Roman" panose="02020603050405020304" pitchFamily="18" charset="0"/>
                <a:cs typeface="Times New Roman" panose="02020603050405020304" pitchFamily="18" charset="0"/>
              </a:rPr>
              <a:t>Publish schedules early so members can plan their personal time.</a:t>
            </a:r>
          </a:p>
          <a:p>
            <a:pPr marL="0" indent="0">
              <a:buNone/>
            </a:pPr>
            <a:r>
              <a:rPr lang="en-US" sz="2400" dirty="0">
                <a:latin typeface="Times New Roman" panose="02020603050405020304" pitchFamily="18" charset="0"/>
                <a:cs typeface="Times New Roman" panose="02020603050405020304" pitchFamily="18" charset="0"/>
              </a:rPr>
              <a:t>Compensation/Rest</a:t>
            </a:r>
          </a:p>
          <a:p>
            <a:r>
              <a:rPr lang="en-US" sz="2400" dirty="0">
                <a:latin typeface="Times New Roman" panose="02020603050405020304" pitchFamily="18" charset="0"/>
                <a:cs typeface="Times New Roman" panose="02020603050405020304" pitchFamily="18" charset="0"/>
              </a:rPr>
              <a:t>Provide stipends or compensatory time off where possible.</a:t>
            </a:r>
          </a:p>
          <a:p>
            <a:pPr marL="0" indent="0">
              <a:buNone/>
            </a:pPr>
            <a:r>
              <a:rPr lang="en-US" sz="2400" dirty="0">
                <a:latin typeface="Times New Roman" panose="02020603050405020304" pitchFamily="18" charset="0"/>
                <a:cs typeface="Times New Roman" panose="02020603050405020304" pitchFamily="18" charset="0"/>
              </a:rPr>
              <a:t>Team wellbeing is critical for long-term sustainability. </a:t>
            </a:r>
          </a:p>
        </p:txBody>
      </p:sp>
    </p:spTree>
    <p:extLst>
      <p:ext uri="{BB962C8B-B14F-4D97-AF65-F5344CB8AC3E}">
        <p14:creationId xmlns:p14="http://schemas.microsoft.com/office/powerpoint/2010/main" val="105778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D8F6-1738-AD3D-E2A5-E50BC4D2CC8D}"/>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Process and Tool Integration</a:t>
            </a:r>
          </a:p>
        </p:txBody>
      </p:sp>
      <p:sp>
        <p:nvSpPr>
          <p:cNvPr id="3" name="Content Placeholder 2">
            <a:extLst>
              <a:ext uri="{FF2B5EF4-FFF2-40B4-BE49-F238E27FC236}">
                <a16:creationId xmlns:a16="http://schemas.microsoft.com/office/drawing/2014/main" id="{0A7C015E-7711-9CEC-D488-A062E79F7CE1}"/>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Automation Tools:</a:t>
            </a:r>
          </a:p>
          <a:p>
            <a:r>
              <a:rPr lang="en-US" sz="2400" dirty="0">
                <a:latin typeface="Times New Roman" panose="02020603050405020304" pitchFamily="18" charset="0"/>
                <a:cs typeface="Times New Roman" panose="02020603050405020304" pitchFamily="18" charset="0"/>
              </a:rPr>
              <a:t>Use tools like PagerDuty to manage schedules, escalations, overrides, and notifications.</a:t>
            </a:r>
          </a:p>
          <a:p>
            <a:pPr marL="0" indent="0">
              <a:buNone/>
            </a:pPr>
            <a:r>
              <a:rPr lang="en-US" sz="2400" dirty="0">
                <a:latin typeface="Times New Roman" panose="02020603050405020304" pitchFamily="18" charset="0"/>
                <a:cs typeface="Times New Roman" panose="02020603050405020304" pitchFamily="18" charset="0"/>
              </a:rPr>
              <a:t>Communications Integration:</a:t>
            </a:r>
          </a:p>
          <a:p>
            <a:r>
              <a:rPr lang="en-US" sz="2400" dirty="0">
                <a:latin typeface="Times New Roman" panose="02020603050405020304" pitchFamily="18" charset="0"/>
                <a:cs typeface="Times New Roman" panose="02020603050405020304" pitchFamily="18" charset="0"/>
              </a:rPr>
              <a:t>Add schedules with calendars, Slack, and incident platforms for more seamless alerts and to make sure everything is planned. </a:t>
            </a:r>
          </a:p>
        </p:txBody>
      </p:sp>
    </p:spTree>
    <p:extLst>
      <p:ext uri="{BB962C8B-B14F-4D97-AF65-F5344CB8AC3E}">
        <p14:creationId xmlns:p14="http://schemas.microsoft.com/office/powerpoint/2010/main" val="254926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CDD3-85C5-5726-BB52-7A10BC0FBE30}"/>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Communication and Handoffs</a:t>
            </a:r>
          </a:p>
        </p:txBody>
      </p:sp>
      <p:sp>
        <p:nvSpPr>
          <p:cNvPr id="3" name="Content Placeholder 2">
            <a:extLst>
              <a:ext uri="{FF2B5EF4-FFF2-40B4-BE49-F238E27FC236}">
                <a16:creationId xmlns:a16="http://schemas.microsoft.com/office/drawing/2014/main" id="{F21F9E16-5106-B8AE-91C9-D9FAD6132B81}"/>
              </a:ext>
            </a:extLst>
          </p:cNvPr>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Standardized Handoffs</a:t>
            </a:r>
          </a:p>
          <a:p>
            <a:r>
              <a:rPr lang="en-US" sz="2800" dirty="0">
                <a:latin typeface="Times New Roman" panose="02020603050405020304" pitchFamily="18" charset="0"/>
                <a:cs typeface="Times New Roman" panose="02020603050405020304" pitchFamily="18" charset="0"/>
              </a:rPr>
              <a:t>Use documentation like runbooks and also shift summaries to pass context.</a:t>
            </a:r>
          </a:p>
          <a:p>
            <a:pPr marL="0" indent="0">
              <a:buNone/>
            </a:pPr>
            <a:r>
              <a:rPr lang="en-US" sz="2800" dirty="0">
                <a:latin typeface="Times New Roman" panose="02020603050405020304" pitchFamily="18" charset="0"/>
                <a:cs typeface="Times New Roman" panose="02020603050405020304" pitchFamily="18" charset="0"/>
              </a:rPr>
              <a:t>Incident Collaboration</a:t>
            </a:r>
          </a:p>
          <a:p>
            <a:r>
              <a:rPr lang="en-US" sz="2800" dirty="0">
                <a:latin typeface="Times New Roman" panose="02020603050405020304" pitchFamily="18" charset="0"/>
                <a:cs typeface="Times New Roman" panose="02020603050405020304" pitchFamily="18" charset="0"/>
              </a:rPr>
              <a:t>Use clear channels between on-call, teams, and stakeholders to coordinate during incidents.</a:t>
            </a:r>
          </a:p>
        </p:txBody>
      </p:sp>
    </p:spTree>
    <p:extLst>
      <p:ext uri="{BB962C8B-B14F-4D97-AF65-F5344CB8AC3E}">
        <p14:creationId xmlns:p14="http://schemas.microsoft.com/office/powerpoint/2010/main" val="6737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04C61-0867-EA6B-C9A6-E2C6C3693F40}"/>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Have Continuous Improvement</a:t>
            </a:r>
          </a:p>
        </p:txBody>
      </p:sp>
      <p:sp>
        <p:nvSpPr>
          <p:cNvPr id="3" name="Content Placeholder 2">
            <a:extLst>
              <a:ext uri="{FF2B5EF4-FFF2-40B4-BE49-F238E27FC236}">
                <a16:creationId xmlns:a16="http://schemas.microsoft.com/office/drawing/2014/main" id="{469DDB70-B30D-721A-FB15-98F33EDD731C}"/>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Review Metrics</a:t>
            </a:r>
          </a:p>
          <a:p>
            <a:r>
              <a:rPr lang="en-US" sz="2400" dirty="0">
                <a:latin typeface="Times New Roman" panose="02020603050405020304" pitchFamily="18" charset="0"/>
                <a:cs typeface="Times New Roman" panose="02020603050405020304" pitchFamily="18" charset="0"/>
              </a:rPr>
              <a:t>Track the alert volumes and response times regularly.</a:t>
            </a:r>
          </a:p>
          <a:p>
            <a:pPr marL="0" indent="0">
              <a:buNone/>
            </a:pPr>
            <a:r>
              <a:rPr lang="en-US" sz="2400" dirty="0">
                <a:latin typeface="Times New Roman" panose="02020603050405020304" pitchFamily="18" charset="0"/>
                <a:cs typeface="Times New Roman" panose="02020603050405020304" pitchFamily="18" charset="0"/>
              </a:rPr>
              <a:t>Post-Incident Analysis</a:t>
            </a:r>
          </a:p>
          <a:p>
            <a:r>
              <a:rPr lang="en-US" sz="2400" dirty="0">
                <a:latin typeface="Times New Roman" panose="02020603050405020304" pitchFamily="18" charset="0"/>
                <a:cs typeface="Times New Roman" panose="02020603050405020304" pitchFamily="18" charset="0"/>
              </a:rPr>
              <a:t>Hold retrospectives to make schedules and workflows better based off what worked.</a:t>
            </a:r>
          </a:p>
          <a:p>
            <a:pPr marL="0" indent="0">
              <a:buNone/>
            </a:pPr>
            <a:r>
              <a:rPr lang="en-US" sz="2400" dirty="0">
                <a:latin typeface="Times New Roman" panose="02020603050405020304" pitchFamily="18" charset="0"/>
                <a:cs typeface="Times New Roman" panose="02020603050405020304" pitchFamily="18" charset="0"/>
              </a:rPr>
              <a:t>Update Documentation </a:t>
            </a:r>
          </a:p>
          <a:p>
            <a:r>
              <a:rPr lang="en-US" sz="2400" dirty="0">
                <a:latin typeface="Times New Roman" panose="02020603050405020304" pitchFamily="18" charset="0"/>
                <a:cs typeface="Times New Roman" panose="02020603050405020304" pitchFamily="18" charset="0"/>
              </a:rPr>
              <a:t>Keep runbooks current for quicker responses next time.</a:t>
            </a:r>
          </a:p>
        </p:txBody>
      </p:sp>
    </p:spTree>
    <p:extLst>
      <p:ext uri="{BB962C8B-B14F-4D97-AF65-F5344CB8AC3E}">
        <p14:creationId xmlns:p14="http://schemas.microsoft.com/office/powerpoint/2010/main" val="518304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DFA7-0FA6-89C1-7EA7-033FF815B291}"/>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A03CB8ED-E001-9269-F72F-A4AD9E999623}"/>
              </a:ext>
            </a:extLst>
          </p:cNvPr>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Pager Rotation Duties Are:</a:t>
            </a:r>
          </a:p>
          <a:p>
            <a:r>
              <a:rPr lang="en-US" sz="2800" dirty="0">
                <a:latin typeface="Times New Roman" panose="02020603050405020304" pitchFamily="18" charset="0"/>
                <a:cs typeface="Times New Roman" panose="02020603050405020304" pitchFamily="18" charset="0"/>
              </a:rPr>
              <a:t>Critical for uptime and reliability</a:t>
            </a:r>
          </a:p>
          <a:p>
            <a:r>
              <a:rPr lang="en-US" sz="2800" dirty="0">
                <a:latin typeface="Times New Roman" panose="02020603050405020304" pitchFamily="18" charset="0"/>
                <a:cs typeface="Times New Roman" panose="02020603050405020304" pitchFamily="18" charset="0"/>
              </a:rPr>
              <a:t>Most effective when structured, fair, and communicated</a:t>
            </a:r>
          </a:p>
          <a:p>
            <a:r>
              <a:rPr lang="en-US" sz="2800" dirty="0">
                <a:latin typeface="Times New Roman" panose="02020603050405020304" pitchFamily="18" charset="0"/>
                <a:cs typeface="Times New Roman" panose="02020603050405020304" pitchFamily="18" charset="0"/>
              </a:rPr>
              <a:t>Supported by automation and good documentation</a:t>
            </a:r>
          </a:p>
          <a:p>
            <a:r>
              <a:rPr lang="en-US" sz="2800" dirty="0">
                <a:latin typeface="Times New Roman" panose="02020603050405020304" pitchFamily="18" charset="0"/>
                <a:cs typeface="Times New Roman" panose="02020603050405020304" pitchFamily="18" charset="0"/>
              </a:rPr>
              <a:t>Balanced with team well-being and continuous learning</a:t>
            </a:r>
          </a:p>
        </p:txBody>
      </p:sp>
    </p:spTree>
    <p:extLst>
      <p:ext uri="{BB962C8B-B14F-4D97-AF65-F5344CB8AC3E}">
        <p14:creationId xmlns:p14="http://schemas.microsoft.com/office/powerpoint/2010/main" val="125599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88153-84C0-5734-594E-CD5B0692F6BE}"/>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2E88A7B2-C03A-22B2-CBB9-0C81A63EF1CB}"/>
              </a:ext>
            </a:extLst>
          </p:cNvPr>
          <p:cNvSpPr>
            <a:spLocks noGrp="1"/>
          </p:cNvSpPr>
          <p:nvPr>
            <p:ph idx="1"/>
          </p:nvPr>
        </p:nvSpPr>
        <p:spPr/>
        <p:txBody>
          <a:bodyPr/>
          <a:lstStyle/>
          <a:p>
            <a:r>
              <a:rPr lang="en-US" dirty="0"/>
              <a:t>PagerDuty — On-Call Rotations and Schedules </a:t>
            </a:r>
            <a:r>
              <a:rPr lang="en-US" dirty="0">
                <a:hlinkClick r:id="rId2"/>
              </a:rPr>
              <a:t>https://www.pagerduty.com/resources/incident-management-response/learn/call-rotations-schedules/</a:t>
            </a:r>
            <a:r>
              <a:rPr lang="en-US" dirty="0"/>
              <a:t> </a:t>
            </a:r>
          </a:p>
          <a:p>
            <a:r>
              <a:rPr lang="en-US" dirty="0"/>
              <a:t>On-Call Rotation Best Practices — </a:t>
            </a:r>
            <a:r>
              <a:rPr lang="en-US" dirty="0" err="1"/>
              <a:t>OneUptime</a:t>
            </a:r>
            <a:r>
              <a:rPr lang="en-US" dirty="0"/>
              <a:t> Blog </a:t>
            </a:r>
            <a:r>
              <a:rPr lang="en-US" dirty="0">
                <a:hlinkClick r:id="rId3"/>
              </a:rPr>
              <a:t>https://oneuptime.com/blog/post/2026-02-02-on-call-rotations/view</a:t>
            </a:r>
            <a:r>
              <a:rPr lang="en-US" dirty="0"/>
              <a:t> </a:t>
            </a:r>
          </a:p>
          <a:p>
            <a:r>
              <a:rPr lang="en-US" dirty="0"/>
              <a:t>On-Call Best Practices — </a:t>
            </a:r>
            <a:r>
              <a:rPr lang="en-US" dirty="0" err="1"/>
              <a:t>Squadcast</a:t>
            </a:r>
            <a:r>
              <a:rPr lang="en-US" dirty="0"/>
              <a:t>/Medium </a:t>
            </a:r>
            <a:r>
              <a:rPr lang="en-US" dirty="0">
                <a:hlinkClick r:id="rId4"/>
              </a:rPr>
              <a:t>https://medium.com/%40squadcast/on-call-rotation-a-complete-guide-to-best-practices-997b0da54499</a:t>
            </a:r>
            <a:r>
              <a:rPr lang="en-US" dirty="0"/>
              <a:t> </a:t>
            </a:r>
          </a:p>
          <a:p>
            <a:r>
              <a:rPr lang="en-US" dirty="0"/>
              <a:t>On-Call Schedule Best Practices — Upstat.io </a:t>
            </a:r>
            <a:r>
              <a:rPr lang="en-US" dirty="0">
                <a:hlinkClick r:id="rId5"/>
              </a:rPr>
              <a:t>https://upstat.io/blog/on-call-schedule-best-practices</a:t>
            </a:r>
            <a:r>
              <a:rPr lang="en-US" dirty="0"/>
              <a:t> </a:t>
            </a:r>
          </a:p>
        </p:txBody>
      </p:sp>
    </p:spTree>
    <p:extLst>
      <p:ext uri="{BB962C8B-B14F-4D97-AF65-F5344CB8AC3E}">
        <p14:creationId xmlns:p14="http://schemas.microsoft.com/office/powerpoint/2010/main" val="2847401416"/>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521</TotalTime>
  <Words>515</Words>
  <Application>Microsoft Office PowerPoint</Application>
  <PresentationFormat>Widescreen</PresentationFormat>
  <Paragraphs>67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Candara</vt:lpstr>
      <vt:lpstr>Consolas</vt:lpstr>
      <vt:lpstr>Times New Roman</vt:lpstr>
      <vt:lpstr>Tech Computer 16x9</vt:lpstr>
      <vt:lpstr>Pager Rotation Duties in DevOps Industry Best Practices &amp; Operational Insights</vt:lpstr>
      <vt:lpstr>What Are Pager Rotation Duties?</vt:lpstr>
      <vt:lpstr>Why Pager Rotation Duties Matter</vt:lpstr>
      <vt:lpstr>Best Practice for Structured Scheduling</vt:lpstr>
      <vt:lpstr>Time Zones and Global Teams</vt:lpstr>
      <vt:lpstr>Work and Life Balance</vt:lpstr>
      <vt:lpstr>Process and Tool Integration</vt:lpstr>
      <vt:lpstr>Communication and Handoffs</vt:lpstr>
      <vt:lpstr>Have Continuous Improvement</vt:lpstr>
      <vt:lpstr>Summary</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Macias</dc:creator>
  <cp:lastModifiedBy>Juan Macias</cp:lastModifiedBy>
  <cp:revision>6</cp:revision>
  <dcterms:created xsi:type="dcterms:W3CDTF">2026-02-21T01:03:55Z</dcterms:created>
  <dcterms:modified xsi:type="dcterms:W3CDTF">2026-02-23T04:19:34Z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
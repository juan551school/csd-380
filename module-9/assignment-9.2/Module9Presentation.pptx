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64" r:id="rId5"/>
    <p:sldId id="263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sa.org/blog/developing-a-learning-culture-to-enhance-devops-success/" TargetMode="External"/><Relationship Id="rId2" Type="http://schemas.openxmlformats.org/officeDocument/2006/relationships/hyperlink" Target="https://itrevolution.com/articles/building-a-learning-culture-in-nine-steps/#:~:text=Leaders%20encourage%20organizational%20learning%20by,are%20comfortable%20and%20encourage%20collabor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uiltinnyc.com/articles/devops-cultu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F43DE6-F65C-6657-3FEC-7589DBA63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a Just, Learning Culture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333A0E-57C0-B74D-1421-7CD0BF58B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4241801"/>
            <a:ext cx="8791575" cy="1655762"/>
          </a:xfrm>
        </p:spPr>
        <p:txBody>
          <a:bodyPr>
            <a:normAutofit fontScale="62500" lnSpcReduction="20000"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Juan Macias Vasquez</a:t>
            </a:r>
          </a:p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Bellevue University</a:t>
            </a:r>
          </a:p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CSD380-H323 DevOps (2265-DD)</a:t>
            </a:r>
          </a:p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 Bailey</a:t>
            </a:r>
          </a:p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February 27th, 2026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DEAA0-F7C6-44AA-AB4D-4CBE81C0BC97}"/>
              </a:ext>
            </a:extLst>
          </p:cNvPr>
          <p:cNvSpPr txBox="1"/>
          <p:nvPr/>
        </p:nvSpPr>
        <p:spPr>
          <a:xfrm>
            <a:off x="1876424" y="3509963"/>
            <a:ext cx="502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Week 7 Module 9.2 Assignment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84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C95B-E089-4E57-A9AE-37185BCF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Just &amp; Learning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07BD-9F82-668F-2F67-C04B212F3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7875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Culture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culture where the individuals feel safe to report errors without fear of unjust punishment and the organization learns from incidents rather than assigning blame.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Culture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environment that promotes continuous improvement, open communication, and reflection to make performance and adaptability better.</a:t>
            </a:r>
          </a:p>
        </p:txBody>
      </p:sp>
    </p:spTree>
    <p:extLst>
      <p:ext uri="{BB962C8B-B14F-4D97-AF65-F5344CB8AC3E}">
        <p14:creationId xmlns:p14="http://schemas.microsoft.com/office/powerpoint/2010/main" val="156300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D565-0764-3832-9240-F9B9C56E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It’s Hard to Change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9BE90-89D3-29FC-957F-CE8DEBC63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8858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 just, learning culture needs: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Mindset change at all levels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leadership behavior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communication practices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blame-oriented norms and resistance to change make this hard. </a:t>
            </a:r>
          </a:p>
        </p:txBody>
      </p:sp>
    </p:spTree>
    <p:extLst>
      <p:ext uri="{BB962C8B-B14F-4D97-AF65-F5344CB8AC3E}">
        <p14:creationId xmlns:p14="http://schemas.microsoft.com/office/powerpoint/2010/main" val="149954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EEDB-BD56-8C9B-1C2A-5948C4BD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C5F0E-076A-670B-0626-E2D381865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87601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are accustomed to the old ways and are scared of the new expectations.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the unknown and comfort in routine slows the adoption.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DevOps, breaking silos and traditional role boundaries triggers resistance.</a:t>
            </a:r>
          </a:p>
        </p:txBody>
      </p:sp>
    </p:spTree>
    <p:extLst>
      <p:ext uri="{BB962C8B-B14F-4D97-AF65-F5344CB8AC3E}">
        <p14:creationId xmlns:p14="http://schemas.microsoft.com/office/powerpoint/2010/main" val="118728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969C-35AE-DEE4-D5BF-789BE93D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Blame and Retribution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D601-7345-AC50-476F-EF847EF4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81701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hesitate to report mistakes if they are scared of the punishment.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and attribution bias will lead to punitive responses instead of learning.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discourages the transparency and even hinders open reporting. </a:t>
            </a:r>
          </a:p>
        </p:txBody>
      </p:sp>
    </p:spTree>
    <p:extLst>
      <p:ext uri="{BB962C8B-B14F-4D97-AF65-F5344CB8AC3E}">
        <p14:creationId xmlns:p14="http://schemas.microsoft.com/office/powerpoint/2010/main" val="197038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0472-1383-55A3-F1A1-0F323E2E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Trust &amp; Leadership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40EF5-A669-8696-3D4D-1E2097B29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blame-oriented management style undermines trust.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leaders have to “lead by example”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inconsistent messaging would weaken the efforts.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strong leadership the cultural change would lose momentum.</a:t>
            </a:r>
          </a:p>
        </p:txBody>
      </p:sp>
    </p:spTree>
    <p:extLst>
      <p:ext uri="{BB962C8B-B14F-4D97-AF65-F5344CB8AC3E}">
        <p14:creationId xmlns:p14="http://schemas.microsoft.com/office/powerpoint/2010/main" val="44852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D98B-CCED-8FA1-4D5F-202E6F44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Norms &amp; Silos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BF63-1B9D-223E-3DD9-B32A3737E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Deep-rooted habits in departments resist cross-team learning and collaboration.</a:t>
            </a:r>
          </a:p>
          <a:p>
            <a:r>
              <a:rPr lang="en-US" sz="2800" dirty="0"/>
              <a:t>DevOps need to break down silos that traditional structures usually end up resisting.</a:t>
            </a:r>
          </a:p>
          <a:p>
            <a:r>
              <a:rPr lang="en-US" sz="2800" dirty="0"/>
              <a:t>Lack of communication and shared goals end up derailing culture efforts.</a:t>
            </a:r>
          </a:p>
        </p:txBody>
      </p:sp>
    </p:spTree>
    <p:extLst>
      <p:ext uri="{BB962C8B-B14F-4D97-AF65-F5344CB8AC3E}">
        <p14:creationId xmlns:p14="http://schemas.microsoft.com/office/powerpoint/2010/main" val="337571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B967-9FE3-81A2-E025-9343F535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&amp; Training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DCC4-ADE4-6C4D-F9E5-3C105C09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training and engagement time will weaken the awareness and buy-in.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tools and learning resources would delay or even prevent continuous development.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often prioritize short-term goals over long-term learning.</a:t>
            </a:r>
          </a:p>
        </p:txBody>
      </p:sp>
    </p:spTree>
    <p:extLst>
      <p:ext uri="{BB962C8B-B14F-4D97-AF65-F5344CB8AC3E}">
        <p14:creationId xmlns:p14="http://schemas.microsoft.com/office/powerpoint/2010/main" val="95303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078052-E51A-C4A5-35D8-83461035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and Impact level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578B02F-BC0A-AC05-A25C-1F992E33289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42270632"/>
              </p:ext>
            </p:extLst>
          </p:nvPr>
        </p:nvGraphicFramePr>
        <p:xfrm>
          <a:off x="1141413" y="2249486"/>
          <a:ext cx="4878386" cy="3345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9193">
                  <a:extLst>
                    <a:ext uri="{9D8B030D-6E8A-4147-A177-3AD203B41FA5}">
                      <a16:colId xmlns:a16="http://schemas.microsoft.com/office/drawing/2014/main" val="1462974748"/>
                    </a:ext>
                  </a:extLst>
                </a:gridCol>
                <a:gridCol w="2439193">
                  <a:extLst>
                    <a:ext uri="{9D8B030D-6E8A-4147-A177-3AD203B41FA5}">
                      <a16:colId xmlns:a16="http://schemas.microsoft.com/office/drawing/2014/main" val="2383189387"/>
                    </a:ext>
                  </a:extLst>
                </a:gridCol>
              </a:tblGrid>
              <a:tr h="55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Barrier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Level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extLst>
                  <a:ext uri="{0D108BD9-81ED-4DB2-BD59-A6C34878D82A}">
                    <a16:rowId xmlns:a16="http://schemas.microsoft.com/office/drawing/2014/main" val="2428033225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Fear of Blame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extLst>
                  <a:ext uri="{0D108BD9-81ED-4DB2-BD59-A6C34878D82A}">
                    <a16:rowId xmlns:a16="http://schemas.microsoft.com/office/drawing/2014/main" val="3384090477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Leadership Support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extLst>
                  <a:ext uri="{0D108BD9-81ED-4DB2-BD59-A6C34878D82A}">
                    <a16:rowId xmlns:a16="http://schemas.microsoft.com/office/drawing/2014/main" val="675062354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Resistance to Change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extLst>
                  <a:ext uri="{0D108BD9-81ED-4DB2-BD59-A6C34878D82A}">
                    <a16:rowId xmlns:a16="http://schemas.microsoft.com/office/drawing/2014/main" val="4060352493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Organizational Silos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0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extLst>
                  <a:ext uri="{0D108BD9-81ED-4DB2-BD59-A6C34878D82A}">
                    <a16:rowId xmlns:a16="http://schemas.microsoft.com/office/drawing/2014/main" val="3431697409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Constraints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349" marR="56349" marT="0" marB="0" anchor="ctr"/>
                </a:tc>
                <a:extLst>
                  <a:ext uri="{0D108BD9-81ED-4DB2-BD59-A6C34878D82A}">
                    <a16:rowId xmlns:a16="http://schemas.microsoft.com/office/drawing/2014/main" val="1747770336"/>
                  </a:ext>
                </a:extLst>
              </a:tr>
            </a:tbl>
          </a:graphicData>
        </a:graphic>
      </p:graphicFrame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2B123B-E522-C106-E4A3-9F7717E55C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0560" y="2258406"/>
            <a:ext cx="4578493" cy="334507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B615306-3EC4-A4FD-6EB0-34A28C3E2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9DFE80-4D39-5FE3-EB84-D2CEC6451CDD}"/>
              </a:ext>
            </a:extLst>
          </p:cNvPr>
          <p:cNvSpPr txBox="1"/>
          <p:nvPr/>
        </p:nvSpPr>
        <p:spPr>
          <a:xfrm>
            <a:off x="1141413" y="5791202"/>
            <a:ext cx="154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Made in Word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B87ED-C80B-2F0F-E571-07AD65484B68}"/>
              </a:ext>
            </a:extLst>
          </p:cNvPr>
          <p:cNvSpPr txBox="1"/>
          <p:nvPr/>
        </p:nvSpPr>
        <p:spPr>
          <a:xfrm>
            <a:off x="6094412" y="5791204"/>
            <a:ext cx="147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Made in Excel</a:t>
            </a:r>
          </a:p>
        </p:txBody>
      </p:sp>
    </p:spTree>
    <p:extLst>
      <p:ext uri="{BB962C8B-B14F-4D97-AF65-F5344CB8AC3E}">
        <p14:creationId xmlns:p14="http://schemas.microsoft.com/office/powerpoint/2010/main" val="4015134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5968-7EA0-BE76-F620-E143C4C32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A2DD-C5EE-9612-42B1-5965A897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36681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Textbook: The DevOps Handbook: How to Create World-Class Agility, Reliability, &amp; Security in Technology Organizations Second Edition; Gene Kim, Jez Humble, Patrick Debois, John Willis, &amp; John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Allspaw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IT Revolution Press; 2016 - Chapter 19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learning culture article (IT Revolution)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https://itrevolution.com/articles/building-a-learning-culture-in-nine-steps/#:~:text=Leaders%20encourage%20organizational%20learning%20by,are%20comfortable%20and%20encourage%20collaboration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DASA blog on learning culture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https://www.dasa.org/blog/developing-a-learning-culture-to-enhance-devops-success/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BuiltInNYC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article on DevOps culture 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https://www.builtinnyc.com/articles/devops-culture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5268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166</TotalTime>
  <Words>499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Tw Cen MT</vt:lpstr>
      <vt:lpstr>Circuit</vt:lpstr>
      <vt:lpstr>Establishing a Just, Learning Culture</vt:lpstr>
      <vt:lpstr>What Is a Just &amp; Learning Culture?</vt:lpstr>
      <vt:lpstr>Overview: Why It’s Hard to Change Culture</vt:lpstr>
      <vt:lpstr>Barrier: Resistance to Change</vt:lpstr>
      <vt:lpstr>Barrier: Fear of Blame and Retribution</vt:lpstr>
      <vt:lpstr>Barrier: Lack of Trust &amp; Leadership Support</vt:lpstr>
      <vt:lpstr>Barrier: Organizational Norms &amp; Silos</vt:lpstr>
      <vt:lpstr>Barrier: Resource &amp; Training Constraints</vt:lpstr>
      <vt:lpstr>Barrier and Impact level  Chart </vt:lpstr>
      <vt:lpstr>References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Macias</dc:creator>
  <cp:lastModifiedBy>Juan Macias</cp:lastModifiedBy>
  <cp:revision>2</cp:revision>
  <dcterms:created xsi:type="dcterms:W3CDTF">2026-03-01T06:19:31Z</dcterms:created>
  <dcterms:modified xsi:type="dcterms:W3CDTF">2026-03-01T09:06:14Z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
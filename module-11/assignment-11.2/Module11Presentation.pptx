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2" d="100"/>
          <a:sy n="82" d="100"/>
        </p:scale>
        <p:origin x="720" y="7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3/7/2026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3/7/2026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3/7/2026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3/7/2026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3/7/2026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3/7/2026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3/7/2026</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3/7/2026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3/7/2026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3/7/2026</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snyk.io/articles/securing-source-code-repositories/" TargetMode="External"/><Relationship Id="rId2" Type="http://schemas.openxmlformats.org/officeDocument/2006/relationships/hyperlink" Target="https://stackoverflow.blog/2022/01/24/securing-the-data-in-your-online-code-repository-is-a-shared-responsibility/" TargetMode="External"/><Relationship Id="rId1" Type="http://schemas.openxmlformats.org/officeDocument/2006/relationships/slideLayout" Target="../slideLayouts/slideLayout2.xml"/><Relationship Id="rId6" Type="http://schemas.openxmlformats.org/officeDocument/2006/relationships/hyperlink" Target="https://frameworks.securityalliance.org/secure-software-development/secure-code-repositories-version-control/?utm_source=chatgpt.com" TargetMode="External"/><Relationship Id="rId5" Type="http://schemas.openxmlformats.org/officeDocument/2006/relationships/hyperlink" Target="https://www.techtarget.com/searchsecurity/tip/Top-4-source-code-security-best-practices" TargetMode="External"/><Relationship Id="rId4" Type="http://schemas.openxmlformats.org/officeDocument/2006/relationships/hyperlink" Target="https://get.assembla.com/blog/source-code-secur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848522"/>
            <a:ext cx="10058400" cy="1711037"/>
          </a:xfrm>
        </p:spPr>
        <p:txBody>
          <a:bodyPr>
            <a:normAutofit fontScale="90000"/>
          </a:bodyPr>
          <a:lstStyle/>
          <a:p>
            <a:r>
              <a:rPr lang="en-US" b="1" dirty="0"/>
              <a:t>Security Controls in Shared Source Code Repositories</a:t>
            </a:r>
            <a:endParaRPr lang="en-US" dirty="0"/>
          </a:p>
        </p:txBody>
      </p:sp>
      <p:sp>
        <p:nvSpPr>
          <p:cNvPr id="3" name="Subtitle 2"/>
          <p:cNvSpPr>
            <a:spLocks noGrp="1"/>
          </p:cNvSpPr>
          <p:nvPr>
            <p:ph type="subTitle" idx="1"/>
          </p:nvPr>
        </p:nvSpPr>
        <p:spPr>
          <a:xfrm>
            <a:off x="1066800" y="4495800"/>
            <a:ext cx="10058400" cy="1143000"/>
          </a:xfrm>
        </p:spPr>
        <p:txBody>
          <a:bodyPr>
            <a:normAutofit fontScale="92500" lnSpcReduction="20000"/>
          </a:bodyPr>
          <a:lstStyle/>
          <a:p>
            <a:pPr algn="r"/>
            <a:r>
              <a:rPr lang="en-US" dirty="0"/>
              <a:t>Juan Macias Vasquez</a:t>
            </a:r>
          </a:p>
          <a:p>
            <a:pPr algn="r"/>
            <a:r>
              <a:rPr lang="en-US" dirty="0"/>
              <a:t>Bellevue University</a:t>
            </a:r>
          </a:p>
          <a:p>
            <a:pPr algn="r"/>
            <a:r>
              <a:rPr lang="en-US" dirty="0"/>
              <a:t>CSD380-H323 DevOps (2265-DD)</a:t>
            </a:r>
          </a:p>
          <a:p>
            <a:pPr algn="r"/>
            <a:r>
              <a:rPr lang="en-US" dirty="0"/>
              <a:t>Adam Bailey</a:t>
            </a:r>
          </a:p>
          <a:p>
            <a:pPr algn="r"/>
            <a:r>
              <a:rPr lang="en-US" dirty="0"/>
              <a:t>March 7th, 2026</a:t>
            </a:r>
          </a:p>
          <a:p>
            <a:endParaRPr dirty="0"/>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CCCE8-46B7-C5E7-A0AD-CE9D9897CA5F}"/>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A25C18F-6ACA-8DA1-2E97-BF4736D2FB1C}"/>
              </a:ext>
            </a:extLst>
          </p:cNvPr>
          <p:cNvSpPr>
            <a:spLocks noGrp="1"/>
          </p:cNvSpPr>
          <p:nvPr>
            <p:ph idx="1"/>
          </p:nvPr>
        </p:nvSpPr>
        <p:spPr/>
        <p:txBody>
          <a:bodyPr>
            <a:normAutofit/>
          </a:bodyPr>
          <a:lstStyle/>
          <a:p>
            <a:pPr marL="457200" indent="-457200">
              <a:buNone/>
            </a:pPr>
            <a:r>
              <a:rPr lang="en-US" sz="2400" dirty="0">
                <a:latin typeface="Times New Roman" panose="02020603050405020304" pitchFamily="18" charset="0"/>
                <a:cs typeface="Times New Roman" panose="02020603050405020304" pitchFamily="18" charset="0"/>
              </a:rPr>
              <a:t>Shared source code repositories like GitHub, GitLab, and Bitbucket let the teams be able to collaborate on software development. The downside is these repositories can also be the targets for cyberattacks if they are not properly secured.</a:t>
            </a:r>
          </a:p>
          <a:p>
            <a:pPr marL="457200" indent="-457200">
              <a:buNone/>
            </a:pPr>
            <a:r>
              <a:rPr lang="en-US" sz="2400" dirty="0">
                <a:latin typeface="Times New Roman" panose="02020603050405020304" pitchFamily="18" charset="0"/>
                <a:cs typeface="Times New Roman" panose="02020603050405020304" pitchFamily="18" charset="0"/>
              </a:rPr>
              <a:t>Organizations have to implement security controls to protect the sensitive code, credentials, and intellectual property stored in these repositories.</a:t>
            </a:r>
          </a:p>
          <a:p>
            <a:pPr marL="457200" indent="-457200">
              <a:buNone/>
            </a:pPr>
            <a:r>
              <a:rPr lang="en-US" sz="2400" dirty="0">
                <a:latin typeface="Times New Roman" panose="02020603050405020304" pitchFamily="18" charset="0"/>
                <a:cs typeface="Times New Roman" panose="02020603050405020304" pitchFamily="18" charset="0"/>
              </a:rPr>
              <a:t>Effective security practices help prevent unauthorized access, malicious code changes, and data leaks. </a:t>
            </a:r>
          </a:p>
        </p:txBody>
      </p:sp>
    </p:spTree>
    <p:extLst>
      <p:ext uri="{BB962C8B-B14F-4D97-AF65-F5344CB8AC3E}">
        <p14:creationId xmlns:p14="http://schemas.microsoft.com/office/powerpoint/2010/main" val="3327031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C7AD-7E7D-4ADC-FC4F-E9AF4FA066A8}"/>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Security Risks in Code Repositories</a:t>
            </a:r>
          </a:p>
        </p:txBody>
      </p:sp>
      <p:sp>
        <p:nvSpPr>
          <p:cNvPr id="3" name="Content Placeholder 2">
            <a:extLst>
              <a:ext uri="{FF2B5EF4-FFF2-40B4-BE49-F238E27FC236}">
                <a16:creationId xmlns:a16="http://schemas.microsoft.com/office/drawing/2014/main" id="{E981BB18-ECF6-9624-21C9-9CFFC2AF2239}"/>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Some common threats that affect shared code repositories are </a:t>
            </a:r>
          </a:p>
          <a:p>
            <a:r>
              <a:rPr lang="en-US" dirty="0">
                <a:latin typeface="Times New Roman" panose="02020603050405020304" pitchFamily="18" charset="0"/>
                <a:cs typeface="Times New Roman" panose="02020603050405020304" pitchFamily="18" charset="0"/>
              </a:rPr>
              <a:t>Unauthorized access to private repositories</a:t>
            </a:r>
          </a:p>
          <a:p>
            <a:r>
              <a:rPr lang="en-US" dirty="0">
                <a:latin typeface="Times New Roman" panose="02020603050405020304" pitchFamily="18" charset="0"/>
                <a:cs typeface="Times New Roman" panose="02020603050405020304" pitchFamily="18" charset="0"/>
              </a:rPr>
              <a:t>If there is exposure of API keys or even passwords in code</a:t>
            </a:r>
          </a:p>
          <a:p>
            <a:r>
              <a:rPr lang="en-US" dirty="0">
                <a:latin typeface="Times New Roman" panose="02020603050405020304" pitchFamily="18" charset="0"/>
                <a:cs typeface="Times New Roman" panose="02020603050405020304" pitchFamily="18" charset="0"/>
              </a:rPr>
              <a:t>Malicious code injections by attackers</a:t>
            </a:r>
          </a:p>
          <a:p>
            <a:r>
              <a:rPr lang="en-US" dirty="0">
                <a:latin typeface="Times New Roman" panose="02020603050405020304" pitchFamily="18" charset="0"/>
                <a:cs typeface="Times New Roman" panose="02020603050405020304" pitchFamily="18" charset="0"/>
              </a:rPr>
              <a:t>Ant vulnerabilities in third-party dependencies</a:t>
            </a:r>
          </a:p>
          <a:p>
            <a:r>
              <a:rPr lang="en-US" dirty="0">
                <a:latin typeface="Times New Roman" panose="02020603050405020304" pitchFamily="18" charset="0"/>
                <a:cs typeface="Times New Roman" panose="02020603050405020304" pitchFamily="18" charset="0"/>
              </a:rPr>
              <a:t>Supply chain attacks that affect the development pipelines</a:t>
            </a:r>
          </a:p>
          <a:p>
            <a:pPr marL="0" indent="0">
              <a:buNone/>
            </a:pPr>
            <a:r>
              <a:rPr lang="en-US" sz="2400" dirty="0">
                <a:latin typeface="Times New Roman" panose="02020603050405020304" pitchFamily="18" charset="0"/>
                <a:cs typeface="Times New Roman" panose="02020603050405020304" pitchFamily="18" charset="0"/>
              </a:rPr>
              <a:t>These risks and more make repository security extremely essential in modern DevOps environments.</a:t>
            </a:r>
          </a:p>
          <a:p>
            <a:pPr marL="0" indent="0">
              <a:buNone/>
            </a:pPr>
            <a:r>
              <a:rPr lang="en-US" dirty="0">
                <a:latin typeface="Times New Roman" panose="02020603050405020304" pitchFamily="18" charset="0"/>
                <a:cs typeface="Times New Roman" panose="02020603050405020304" pitchFamily="18" charset="0"/>
              </a:rPr>
              <a:t>Sources: </a:t>
            </a:r>
            <a:r>
              <a:rPr lang="en-US" dirty="0" err="1">
                <a:latin typeface="Times New Roman" panose="02020603050405020304" pitchFamily="18" charset="0"/>
                <a:cs typeface="Times New Roman" panose="02020603050405020304" pitchFamily="18" charset="0"/>
              </a:rPr>
              <a:t>Snyk</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Assembla</a:t>
            </a:r>
            <a:endParaRPr lang="en-US"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862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5C197-8977-E948-9486-53041C695B50}"/>
              </a:ext>
            </a:extLst>
          </p:cNvPr>
          <p:cNvSpPr>
            <a:spLocks noGrp="1"/>
          </p:cNvSpPr>
          <p:nvPr>
            <p:ph type="title"/>
          </p:nvPr>
        </p:nvSpPr>
        <p:spPr>
          <a:xfrm>
            <a:off x="1520890" y="457200"/>
            <a:ext cx="9144000" cy="1143000"/>
          </a:xfrm>
        </p:spPr>
        <p:txBody>
          <a:bodyPr>
            <a:normAutofit/>
          </a:bodyPr>
          <a:lstStyle/>
          <a:p>
            <a:r>
              <a:rPr lang="en-US" sz="4000" dirty="0">
                <a:latin typeface="Times New Roman" panose="02020603050405020304" pitchFamily="18" charset="0"/>
                <a:cs typeface="Times New Roman" panose="02020603050405020304" pitchFamily="18" charset="0"/>
              </a:rPr>
              <a:t>Implement Strong Access Control</a:t>
            </a:r>
          </a:p>
        </p:txBody>
      </p:sp>
      <p:sp>
        <p:nvSpPr>
          <p:cNvPr id="3" name="Content Placeholder 2">
            <a:extLst>
              <a:ext uri="{FF2B5EF4-FFF2-40B4-BE49-F238E27FC236}">
                <a16:creationId xmlns:a16="http://schemas.microsoft.com/office/drawing/2014/main" id="{8A805551-EBA0-44CA-3377-49CB92F00A92}"/>
              </a:ext>
            </a:extLst>
          </p:cNvPr>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One of the most important security practices is being able to control who can actually access the repository.</a:t>
            </a:r>
          </a:p>
          <a:p>
            <a:pPr marL="0" indent="0">
              <a:buNone/>
            </a:pPr>
            <a:r>
              <a:rPr lang="en-US" dirty="0">
                <a:latin typeface="Times New Roman" panose="02020603050405020304" pitchFamily="18" charset="0"/>
                <a:cs typeface="Times New Roman" panose="02020603050405020304" pitchFamily="18" charset="0"/>
              </a:rPr>
              <a:t>Best practices for access control include:</a:t>
            </a:r>
          </a:p>
          <a:p>
            <a:r>
              <a:rPr lang="en-US" dirty="0">
                <a:latin typeface="Times New Roman" panose="02020603050405020304" pitchFamily="18" charset="0"/>
                <a:cs typeface="Times New Roman" panose="02020603050405020304" pitchFamily="18" charset="0"/>
              </a:rPr>
              <a:t>Adding Role-Based Access Control (RBAC)</a:t>
            </a:r>
          </a:p>
          <a:p>
            <a:r>
              <a:rPr lang="en-US" dirty="0">
                <a:latin typeface="Times New Roman" panose="02020603050405020304" pitchFamily="18" charset="0"/>
                <a:cs typeface="Times New Roman" panose="02020603050405020304" pitchFamily="18" charset="0"/>
              </a:rPr>
              <a:t>Add the principle of least privilege</a:t>
            </a:r>
          </a:p>
          <a:p>
            <a:r>
              <a:rPr lang="en-US" dirty="0">
                <a:latin typeface="Times New Roman" panose="02020603050405020304" pitchFamily="18" charset="0"/>
                <a:cs typeface="Times New Roman" panose="02020603050405020304" pitchFamily="18" charset="0"/>
              </a:rPr>
              <a:t>Regularly check/review user permissions</a:t>
            </a:r>
          </a:p>
          <a:p>
            <a:r>
              <a:rPr lang="en-US" dirty="0">
                <a:latin typeface="Times New Roman" panose="02020603050405020304" pitchFamily="18" charset="0"/>
                <a:cs typeface="Times New Roman" panose="02020603050405020304" pitchFamily="18" charset="0"/>
              </a:rPr>
              <a:t>Get rid of any unused or inactive accounts</a:t>
            </a:r>
          </a:p>
          <a:p>
            <a:pPr marL="0" indent="0">
              <a:buNone/>
            </a:pPr>
            <a:r>
              <a:rPr lang="en-US" dirty="0">
                <a:latin typeface="Times New Roman" panose="02020603050405020304" pitchFamily="18" charset="0"/>
                <a:cs typeface="Times New Roman" panose="02020603050405020304" pitchFamily="18" charset="0"/>
              </a:rPr>
              <a:t>Restricting access ensures that only authorized developers can modify or view sensitive code.</a:t>
            </a:r>
          </a:p>
          <a:p>
            <a:pPr marL="0" indent="0">
              <a:buNone/>
            </a:pPr>
            <a:r>
              <a:rPr lang="en-US" dirty="0"/>
              <a:t>Sources: </a:t>
            </a:r>
            <a:r>
              <a:rPr lang="en-US" dirty="0" err="1"/>
              <a:t>Snyk</a:t>
            </a:r>
            <a:endParaRPr lang="en-US" dirty="0"/>
          </a:p>
        </p:txBody>
      </p:sp>
    </p:spTree>
    <p:extLst>
      <p:ext uri="{BB962C8B-B14F-4D97-AF65-F5344CB8AC3E}">
        <p14:creationId xmlns:p14="http://schemas.microsoft.com/office/powerpoint/2010/main" val="1012619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F25C0-CB3F-BF4B-0647-B983D64E4657}"/>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Enable Multi-Factor Authentication (MFA)</a:t>
            </a:r>
          </a:p>
        </p:txBody>
      </p:sp>
      <p:sp>
        <p:nvSpPr>
          <p:cNvPr id="3" name="Content Placeholder 2">
            <a:extLst>
              <a:ext uri="{FF2B5EF4-FFF2-40B4-BE49-F238E27FC236}">
                <a16:creationId xmlns:a16="http://schemas.microsoft.com/office/drawing/2014/main" id="{C7E5C3FE-A521-2BD9-598F-3FD5F9EBE022}"/>
              </a:ext>
            </a:extLst>
          </p:cNvPr>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Multi-factor authentication to add an additional security layer beyond just having normal password protection. Organizations should require MFA for all repository users because of how much harder it makes </a:t>
            </a:r>
          </a:p>
          <a:p>
            <a:pPr marL="0" indent="0">
              <a:buNone/>
            </a:pPr>
            <a:r>
              <a:rPr lang="en-US" dirty="0">
                <a:latin typeface="Times New Roman" panose="02020603050405020304" pitchFamily="18" charset="0"/>
                <a:cs typeface="Times New Roman" panose="02020603050405020304" pitchFamily="18" charset="0"/>
              </a:rPr>
              <a:t>Some of the benefits include:</a:t>
            </a:r>
          </a:p>
          <a:p>
            <a:r>
              <a:rPr lang="en-US" dirty="0">
                <a:latin typeface="Times New Roman" panose="02020603050405020304" pitchFamily="18" charset="0"/>
                <a:cs typeface="Times New Roman" panose="02020603050405020304" pitchFamily="18" charset="0"/>
              </a:rPr>
              <a:t>Reducing the risk of credential theft</a:t>
            </a:r>
          </a:p>
          <a:p>
            <a:r>
              <a:rPr lang="en-US" dirty="0">
                <a:latin typeface="Times New Roman" panose="02020603050405020304" pitchFamily="18" charset="0"/>
                <a:cs typeface="Times New Roman" panose="02020603050405020304" pitchFamily="18" charset="0"/>
              </a:rPr>
              <a:t>Requires a second authentication factor like</a:t>
            </a:r>
          </a:p>
          <a:p>
            <a:pPr lvl="1"/>
            <a:r>
              <a:rPr lang="en-US" dirty="0">
                <a:latin typeface="Times New Roman" panose="02020603050405020304" pitchFamily="18" charset="0"/>
                <a:cs typeface="Times New Roman" panose="02020603050405020304" pitchFamily="18" charset="0"/>
              </a:rPr>
              <a:t>authentication apps</a:t>
            </a:r>
          </a:p>
          <a:p>
            <a:pPr lvl="1"/>
            <a:r>
              <a:rPr lang="en-US" dirty="0">
                <a:latin typeface="Times New Roman" panose="02020603050405020304" pitchFamily="18" charset="0"/>
                <a:cs typeface="Times New Roman" panose="02020603050405020304" pitchFamily="18" charset="0"/>
              </a:rPr>
              <a:t>hardware tokens</a:t>
            </a:r>
          </a:p>
          <a:p>
            <a:pPr lvl="1"/>
            <a:r>
              <a:rPr lang="en-US" dirty="0">
                <a:latin typeface="Times New Roman" panose="02020603050405020304" pitchFamily="18" charset="0"/>
                <a:cs typeface="Times New Roman" panose="02020603050405020304" pitchFamily="18" charset="0"/>
              </a:rPr>
              <a:t>one-time passcodes</a:t>
            </a:r>
          </a:p>
          <a:p>
            <a:r>
              <a:rPr lang="en-US" dirty="0">
                <a:latin typeface="Times New Roman" panose="02020603050405020304" pitchFamily="18" charset="0"/>
                <a:cs typeface="Times New Roman" panose="02020603050405020304" pitchFamily="18" charset="0"/>
              </a:rPr>
              <a:t>Protects against brute force attacks</a:t>
            </a:r>
          </a:p>
          <a:p>
            <a:pPr marL="0" indent="0">
              <a:buNone/>
            </a:pPr>
            <a:r>
              <a:rPr lang="en-US" sz="1800" dirty="0">
                <a:latin typeface="Times New Roman" panose="02020603050405020304" pitchFamily="18" charset="0"/>
                <a:cs typeface="Times New Roman" panose="02020603050405020304" pitchFamily="18" charset="0"/>
              </a:rPr>
              <a:t>Sources: Seal Frameworks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2962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9CC9F-78FF-A16D-5D4D-750BC2730E97}"/>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Protecting Code Integrity</a:t>
            </a:r>
          </a:p>
        </p:txBody>
      </p:sp>
      <p:sp>
        <p:nvSpPr>
          <p:cNvPr id="3" name="Content Placeholder 2">
            <a:extLst>
              <a:ext uri="{FF2B5EF4-FFF2-40B4-BE49-F238E27FC236}">
                <a16:creationId xmlns:a16="http://schemas.microsoft.com/office/drawing/2014/main" id="{CE94D4B4-00FA-684E-2D69-ADC879018BDB}"/>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Security controls are to make sure that code changes are legitimate and traceable. These measures help with preventing unauthorized code modifications and improve accountability in collaborative environments. </a:t>
            </a:r>
          </a:p>
          <a:p>
            <a:pPr marL="0" indent="0">
              <a:buNone/>
            </a:pPr>
            <a:r>
              <a:rPr lang="en-US" sz="2400" dirty="0">
                <a:latin typeface="Times New Roman" panose="02020603050405020304" pitchFamily="18" charset="0"/>
                <a:cs typeface="Times New Roman" panose="02020603050405020304" pitchFamily="18" charset="0"/>
              </a:rPr>
              <a:t>Some recommended practices include</a:t>
            </a:r>
          </a:p>
          <a:p>
            <a:r>
              <a:rPr lang="en-US" sz="2400" dirty="0">
                <a:latin typeface="Times New Roman" panose="02020603050405020304" pitchFamily="18" charset="0"/>
                <a:cs typeface="Times New Roman" panose="02020603050405020304" pitchFamily="18" charset="0"/>
              </a:rPr>
              <a:t>Commit signing with using cryptographic signatures</a:t>
            </a:r>
          </a:p>
          <a:p>
            <a:r>
              <a:rPr lang="en-US" sz="2400" dirty="0">
                <a:latin typeface="Times New Roman" panose="02020603050405020304" pitchFamily="18" charset="0"/>
                <a:cs typeface="Times New Roman" panose="02020603050405020304" pitchFamily="18" charset="0"/>
              </a:rPr>
              <a:t>Branch protection rules for the critical branches</a:t>
            </a:r>
          </a:p>
          <a:p>
            <a:r>
              <a:rPr lang="en-US" sz="2400" dirty="0">
                <a:latin typeface="Times New Roman" panose="02020603050405020304" pitchFamily="18" charset="0"/>
                <a:cs typeface="Times New Roman" panose="02020603050405020304" pitchFamily="18" charset="0"/>
              </a:rPr>
              <a:t>Mandatory code reviews before merging the changes</a:t>
            </a:r>
          </a:p>
          <a:p>
            <a:endParaRPr lang="en-US" sz="24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Sources: Seal Frameworks</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9080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98E33-6EF5-7AEC-04AA-9D7C9760AE4E}"/>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Preventing Secret Exposure</a:t>
            </a:r>
          </a:p>
        </p:txBody>
      </p:sp>
      <p:sp>
        <p:nvSpPr>
          <p:cNvPr id="3" name="Content Placeholder 2">
            <a:extLst>
              <a:ext uri="{FF2B5EF4-FFF2-40B4-BE49-F238E27FC236}">
                <a16:creationId xmlns:a16="http://schemas.microsoft.com/office/drawing/2014/main" id="{E505CCB8-0C81-C9D3-067C-EABCD855381A}"/>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Sensitive information should never be stored directly in the source code. The leaked information from these are a common cause of repository-related security breaches.</a:t>
            </a:r>
          </a:p>
          <a:p>
            <a:pPr marL="0" indent="0">
              <a:buNone/>
            </a:pPr>
            <a:r>
              <a:rPr lang="en-US" sz="2400" dirty="0">
                <a:latin typeface="Times New Roman" panose="02020603050405020304" pitchFamily="18" charset="0"/>
                <a:cs typeface="Times New Roman" panose="02020603050405020304" pitchFamily="18" charset="0"/>
              </a:rPr>
              <a:t>Some of the security measures include</a:t>
            </a:r>
          </a:p>
          <a:p>
            <a:r>
              <a:rPr lang="en-US" sz="2400" dirty="0">
                <a:latin typeface="Times New Roman" panose="02020603050405020304" pitchFamily="18" charset="0"/>
                <a:cs typeface="Times New Roman" panose="02020603050405020304" pitchFamily="18" charset="0"/>
              </a:rPr>
              <a:t>Use secure secrets management systems</a:t>
            </a:r>
          </a:p>
          <a:p>
            <a:r>
              <a:rPr lang="en-US" sz="2400" dirty="0">
                <a:latin typeface="Times New Roman" panose="02020603050405020304" pitchFamily="18" charset="0"/>
                <a:cs typeface="Times New Roman" panose="02020603050405020304" pitchFamily="18" charset="0"/>
              </a:rPr>
              <a:t>Avoid hardcoding passwords, API keys, or tokens</a:t>
            </a:r>
          </a:p>
          <a:p>
            <a:r>
              <a:rPr lang="en-US" sz="2400" dirty="0">
                <a:latin typeface="Times New Roman" panose="02020603050405020304" pitchFamily="18" charset="0"/>
                <a:cs typeface="Times New Roman" panose="02020603050405020304" pitchFamily="18" charset="0"/>
              </a:rPr>
              <a:t>Implement secret scanning tools so they detect exposed credentials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Sources: </a:t>
            </a:r>
            <a:r>
              <a:rPr lang="en-US" sz="1800" dirty="0" err="1">
                <a:latin typeface="Times New Roman" panose="02020603050405020304" pitchFamily="18" charset="0"/>
                <a:cs typeface="Times New Roman" panose="02020603050405020304" pitchFamily="18" charset="0"/>
              </a:rPr>
              <a:t>Snyk</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447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8FD0B-3447-5C15-E6AE-EA18F8D43262}"/>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Automated Security Scanning</a:t>
            </a:r>
          </a:p>
        </p:txBody>
      </p:sp>
      <p:sp>
        <p:nvSpPr>
          <p:cNvPr id="3" name="Content Placeholder 2">
            <a:extLst>
              <a:ext uri="{FF2B5EF4-FFF2-40B4-BE49-F238E27FC236}">
                <a16:creationId xmlns:a16="http://schemas.microsoft.com/office/drawing/2014/main" id="{3B952D91-A736-7070-95A8-8670FD9B2BB2}"/>
              </a:ext>
            </a:extLst>
          </p:cNvPr>
          <p:cNvSpPr>
            <a:spLocks noGrp="1"/>
          </p:cNvSpPr>
          <p:nvPr>
            <p:ph idx="1"/>
          </p:nvPr>
        </p:nvSpPr>
        <p:spPr/>
        <p:txBody>
          <a:bodyPr>
            <a:normAutofit lnSpcReduction="10000"/>
          </a:bodyPr>
          <a:lstStyle/>
          <a:p>
            <a:pPr marL="0" indent="0">
              <a:buNone/>
            </a:pPr>
            <a:r>
              <a:rPr lang="en-US" sz="2400" dirty="0"/>
              <a:t>Security testing should be integrated into the development workflow. The automated scanning identifies vulnerabilities early and helps developers fix them before deployment.</a:t>
            </a:r>
          </a:p>
          <a:p>
            <a:pPr marL="0" indent="0">
              <a:buNone/>
            </a:pPr>
            <a:r>
              <a:rPr lang="en-US" sz="2400" dirty="0"/>
              <a:t>Examples of automated security scanning include:</a:t>
            </a:r>
          </a:p>
          <a:p>
            <a:r>
              <a:rPr lang="en-US" sz="2400" dirty="0"/>
              <a:t>Static Application Security Testing (SAST)</a:t>
            </a:r>
          </a:p>
          <a:p>
            <a:r>
              <a:rPr lang="en-US" sz="2400" dirty="0"/>
              <a:t>Dependency vulnerability scanning</a:t>
            </a:r>
          </a:p>
          <a:p>
            <a:r>
              <a:rPr lang="en-US" sz="2400" dirty="0"/>
              <a:t>Continuous integration (CI) security checks</a:t>
            </a:r>
          </a:p>
          <a:p>
            <a:pPr marL="0" indent="0">
              <a:buNone/>
            </a:pPr>
            <a:endParaRPr lang="en-US" sz="2400" dirty="0"/>
          </a:p>
          <a:p>
            <a:pPr marL="0" indent="0">
              <a:buNone/>
            </a:pPr>
            <a:r>
              <a:rPr lang="en-US" sz="1800" dirty="0">
                <a:latin typeface="Times New Roman" panose="02020603050405020304" pitchFamily="18" charset="0"/>
                <a:cs typeface="Times New Roman" panose="02020603050405020304" pitchFamily="18" charset="0"/>
              </a:rPr>
              <a:t>Sources: TechTarget</a:t>
            </a:r>
          </a:p>
          <a:p>
            <a:endParaRPr lang="en-US" sz="2400" dirty="0"/>
          </a:p>
        </p:txBody>
      </p:sp>
    </p:spTree>
    <p:extLst>
      <p:ext uri="{BB962C8B-B14F-4D97-AF65-F5344CB8AC3E}">
        <p14:creationId xmlns:p14="http://schemas.microsoft.com/office/powerpoint/2010/main" val="1028305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AEBA2-30A9-D206-D9E9-41BC165E62EC}"/>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Monitoring and Auditing</a:t>
            </a:r>
          </a:p>
        </p:txBody>
      </p:sp>
      <p:sp>
        <p:nvSpPr>
          <p:cNvPr id="3" name="Content Placeholder 2">
            <a:extLst>
              <a:ext uri="{FF2B5EF4-FFF2-40B4-BE49-F238E27FC236}">
                <a16:creationId xmlns:a16="http://schemas.microsoft.com/office/drawing/2014/main" id="{2ECAF801-5C46-963A-80B8-EBF1D6A98C20}"/>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Continuous monitoring helps with detecting suspicious activity in the repositories.</a:t>
            </a:r>
          </a:p>
          <a:p>
            <a:pPr marL="0" indent="0">
              <a:buNone/>
            </a:pPr>
            <a:r>
              <a:rPr lang="en-US" sz="2400" dirty="0">
                <a:latin typeface="Times New Roman" panose="02020603050405020304" pitchFamily="18" charset="0"/>
                <a:cs typeface="Times New Roman" panose="02020603050405020304" pitchFamily="18" charset="0"/>
              </a:rPr>
              <a:t>These processes also let the organizations be able to quickly detect and respond to security threats.</a:t>
            </a:r>
          </a:p>
          <a:p>
            <a:pPr marL="0" indent="0">
              <a:buNone/>
            </a:pPr>
            <a:r>
              <a:rPr lang="en-US" sz="2400" dirty="0">
                <a:latin typeface="Times New Roman" panose="02020603050405020304" pitchFamily="18" charset="0"/>
                <a:cs typeface="Times New Roman" panose="02020603050405020304" pitchFamily="18" charset="0"/>
              </a:rPr>
              <a:t>Important monitoring and auditing practices include</a:t>
            </a:r>
          </a:p>
          <a:p>
            <a:r>
              <a:rPr lang="en-US" sz="2400" dirty="0">
                <a:latin typeface="Times New Roman" panose="02020603050405020304" pitchFamily="18" charset="0"/>
                <a:cs typeface="Times New Roman" panose="02020603050405020304" pitchFamily="18" charset="0"/>
              </a:rPr>
              <a:t>Being able to enable repository audit logs</a:t>
            </a:r>
          </a:p>
          <a:p>
            <a:r>
              <a:rPr lang="en-US" sz="2400" dirty="0">
                <a:latin typeface="Times New Roman" panose="02020603050405020304" pitchFamily="18" charset="0"/>
                <a:cs typeface="Times New Roman" panose="02020603050405020304" pitchFamily="18" charset="0"/>
              </a:rPr>
              <a:t>Monitoring all code changes and user activity</a:t>
            </a:r>
          </a:p>
          <a:p>
            <a:r>
              <a:rPr lang="en-US" sz="2400" dirty="0">
                <a:latin typeface="Times New Roman" panose="02020603050405020304" pitchFamily="18" charset="0"/>
                <a:cs typeface="Times New Roman" panose="02020603050405020304" pitchFamily="18" charset="0"/>
              </a:rPr>
              <a:t>Perform regular security audits </a:t>
            </a:r>
          </a:p>
          <a:p>
            <a:pPr marL="0" indent="0">
              <a:buNone/>
            </a:pPr>
            <a:r>
              <a:rPr lang="en-US" sz="1800" dirty="0">
                <a:latin typeface="Times New Roman" panose="02020603050405020304" pitchFamily="18" charset="0"/>
                <a:cs typeface="Times New Roman" panose="02020603050405020304" pitchFamily="18" charset="0"/>
              </a:rPr>
              <a:t>Sources: </a:t>
            </a:r>
            <a:r>
              <a:rPr lang="en-US" sz="1800" dirty="0" err="1">
                <a:latin typeface="Times New Roman" panose="02020603050405020304" pitchFamily="18" charset="0"/>
                <a:cs typeface="Times New Roman" panose="02020603050405020304" pitchFamily="18" charset="0"/>
              </a:rPr>
              <a:t>Snyk</a:t>
            </a:r>
            <a:endParaRPr lang="en-US" sz="18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0949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B27C1-2315-3A86-CCF7-AC2A3916E362}"/>
              </a:ext>
            </a:extLst>
          </p:cNvPr>
          <p:cNvSpPr>
            <a:spLocks noGrp="1"/>
          </p:cNvSpPr>
          <p:nvPr>
            <p:ph type="title"/>
          </p:nvPr>
        </p:nvSpPr>
        <p:spPr>
          <a:xfrm>
            <a:off x="1524000" y="304800"/>
            <a:ext cx="9144000" cy="1143000"/>
          </a:xfrm>
        </p:spPr>
        <p:txBody>
          <a:bodyPr>
            <a:normAutofit/>
          </a:bodyPr>
          <a:lstStyle/>
          <a:p>
            <a:r>
              <a:rPr lang="en-US" sz="4000" dirty="0">
                <a:latin typeface="Times New Roman" panose="02020603050405020304" pitchFamily="18" charset="0"/>
                <a:cs typeface="Times New Roman" panose="02020603050405020304" pitchFamily="18" charset="0"/>
              </a:rPr>
              <a:t>Conclusion of Security Controls </a:t>
            </a:r>
          </a:p>
        </p:txBody>
      </p:sp>
      <p:sp>
        <p:nvSpPr>
          <p:cNvPr id="3" name="Content Placeholder 2">
            <a:extLst>
              <a:ext uri="{FF2B5EF4-FFF2-40B4-BE49-F238E27FC236}">
                <a16:creationId xmlns:a16="http://schemas.microsoft.com/office/drawing/2014/main" id="{23F66768-2F9B-A6A3-23DA-88F015091DF6}"/>
              </a:ext>
            </a:extLst>
          </p:cNvPr>
          <p:cNvSpPr>
            <a:spLocks noGrp="1"/>
          </p:cNvSpPr>
          <p:nvPr>
            <p:ph idx="1"/>
          </p:nvPr>
        </p:nvSpPr>
        <p:spPr>
          <a:xfrm>
            <a:off x="1524000" y="1600200"/>
            <a:ext cx="8756780" cy="457200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Securing shared source code repositories is critical for protecting software and organizational data.</a:t>
            </a:r>
          </a:p>
          <a:p>
            <a:pPr marL="0" indent="0">
              <a:buNone/>
            </a:pPr>
            <a:r>
              <a:rPr lang="en-US" dirty="0">
                <a:latin typeface="Times New Roman" panose="02020603050405020304" pitchFamily="18" charset="0"/>
                <a:cs typeface="Times New Roman" panose="02020603050405020304" pitchFamily="18" charset="0"/>
              </a:rPr>
              <a:t>Some of the key best practices include</a:t>
            </a:r>
          </a:p>
          <a:p>
            <a:r>
              <a:rPr lang="en-US" dirty="0">
                <a:latin typeface="Times New Roman" panose="02020603050405020304" pitchFamily="18" charset="0"/>
                <a:cs typeface="Times New Roman" panose="02020603050405020304" pitchFamily="18" charset="0"/>
              </a:rPr>
              <a:t>Strong access control and MFA</a:t>
            </a:r>
          </a:p>
          <a:p>
            <a:r>
              <a:rPr lang="en-US" dirty="0">
                <a:latin typeface="Times New Roman" panose="02020603050405020304" pitchFamily="18" charset="0"/>
                <a:cs typeface="Times New Roman" panose="02020603050405020304" pitchFamily="18" charset="0"/>
              </a:rPr>
              <a:t>Code reviewing and commit verification</a:t>
            </a:r>
          </a:p>
          <a:p>
            <a:r>
              <a:rPr lang="en-US" dirty="0">
                <a:latin typeface="Times New Roman" panose="02020603050405020304" pitchFamily="18" charset="0"/>
                <a:cs typeface="Times New Roman" panose="02020603050405020304" pitchFamily="18" charset="0"/>
              </a:rPr>
              <a:t>Secret management</a:t>
            </a:r>
          </a:p>
          <a:p>
            <a:r>
              <a:rPr lang="en-US" dirty="0">
                <a:latin typeface="Times New Roman" panose="02020603050405020304" pitchFamily="18" charset="0"/>
                <a:cs typeface="Times New Roman" panose="02020603050405020304" pitchFamily="18" charset="0"/>
              </a:rPr>
              <a:t>Automated vulnerability scanning</a:t>
            </a:r>
          </a:p>
          <a:p>
            <a:r>
              <a:rPr lang="en-US" dirty="0">
                <a:latin typeface="Times New Roman" panose="02020603050405020304" pitchFamily="18" charset="0"/>
                <a:cs typeface="Times New Roman" panose="02020603050405020304" pitchFamily="18" charset="0"/>
              </a:rPr>
              <a:t>Continuous monitoring and auditing</a:t>
            </a:r>
          </a:p>
          <a:p>
            <a:pPr marL="0" indent="0">
              <a:buNone/>
            </a:pPr>
            <a:r>
              <a:rPr lang="en-US" dirty="0">
                <a:latin typeface="Times New Roman" panose="02020603050405020304" pitchFamily="18" charset="0"/>
                <a:cs typeface="Times New Roman" panose="02020603050405020304" pitchFamily="18" charset="0"/>
              </a:rPr>
              <a:t>After you implement these security controls it will help organizations maintain secure and reliable software development environments.</a:t>
            </a:r>
          </a:p>
        </p:txBody>
      </p:sp>
    </p:spTree>
    <p:extLst>
      <p:ext uri="{BB962C8B-B14F-4D97-AF65-F5344CB8AC3E}">
        <p14:creationId xmlns:p14="http://schemas.microsoft.com/office/powerpoint/2010/main" val="2099922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AB73A-9D3C-891D-6A29-E10893D5BBC3}"/>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532176BE-5B8C-F68E-DE7E-D555C06E9439}"/>
              </a:ext>
            </a:extLst>
          </p:cNvPr>
          <p:cNvSpPr>
            <a:spLocks noGrp="1"/>
          </p:cNvSpPr>
          <p:nvPr>
            <p:ph idx="1"/>
          </p:nvPr>
        </p:nvSpPr>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Stack Overflow Blog</a:t>
            </a:r>
          </a:p>
          <a:p>
            <a:pPr marL="0" indent="0">
              <a:buNone/>
            </a:pPr>
            <a:r>
              <a:rPr lang="en-US" dirty="0">
                <a:latin typeface="Times New Roman" panose="02020603050405020304" pitchFamily="18" charset="0"/>
                <a:cs typeface="Times New Roman" panose="02020603050405020304" pitchFamily="18" charset="0"/>
                <a:hlinkClick r:id="rId2"/>
              </a:rPr>
              <a:t>https://stackoverflow.blog/2022/01/24/securing-the-data-in-your-online-code-repository-is-a-shared-responsibility/</a:t>
            </a:r>
            <a:r>
              <a:rPr lang="en-US" dirty="0">
                <a:latin typeface="Times New Roman" panose="02020603050405020304" pitchFamily="18" charset="0"/>
                <a:cs typeface="Times New Roman" panose="02020603050405020304" pitchFamily="18" charset="0"/>
              </a:rPr>
              <a:t> </a:t>
            </a:r>
          </a:p>
          <a:p>
            <a:pPr marL="0" indent="0">
              <a:buNone/>
            </a:pPr>
            <a:r>
              <a:rPr lang="en-US" b="1" dirty="0" err="1">
                <a:latin typeface="Times New Roman" panose="02020603050405020304" pitchFamily="18" charset="0"/>
                <a:cs typeface="Times New Roman" panose="02020603050405020304" pitchFamily="18" charset="0"/>
              </a:rPr>
              <a:t>Snyk</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3"/>
              </a:rPr>
              <a:t>https://snyk.io/articles/securing-source-code-repositories/</a:t>
            </a:r>
            <a:r>
              <a:rPr lang="en-US" dirty="0">
                <a:latin typeface="Times New Roman" panose="02020603050405020304" pitchFamily="18" charset="0"/>
                <a:cs typeface="Times New Roman" panose="02020603050405020304" pitchFamily="18" charset="0"/>
              </a:rPr>
              <a:t> </a:t>
            </a:r>
          </a:p>
          <a:p>
            <a:pPr marL="0" indent="0">
              <a:buNone/>
            </a:pPr>
            <a:r>
              <a:rPr lang="en-US" b="1" dirty="0" err="1">
                <a:latin typeface="Times New Roman" panose="02020603050405020304" pitchFamily="18" charset="0"/>
                <a:cs typeface="Times New Roman" panose="02020603050405020304" pitchFamily="18" charset="0"/>
              </a:rPr>
              <a:t>Assembla</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4"/>
              </a:rPr>
              <a:t>https://get.assembla.com/blog/source-code-security/</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TechTarget</a:t>
            </a:r>
          </a:p>
          <a:p>
            <a:pPr marL="0" indent="0">
              <a:buNone/>
            </a:pPr>
            <a:r>
              <a:rPr lang="en-US" dirty="0">
                <a:latin typeface="Times New Roman" panose="02020603050405020304" pitchFamily="18" charset="0"/>
                <a:cs typeface="Times New Roman" panose="02020603050405020304" pitchFamily="18" charset="0"/>
                <a:hlinkClick r:id="rId5"/>
              </a:rPr>
              <a:t>https://www.techtarget.com/searchsecurity/tip/Top-4-source-code-security-best-practices</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Seal Frameworks</a:t>
            </a:r>
          </a:p>
          <a:p>
            <a:pPr marL="0" indent="0">
              <a:buNone/>
            </a:pPr>
            <a:r>
              <a:rPr lang="en-US" dirty="0">
                <a:latin typeface="Times New Roman" panose="02020603050405020304" pitchFamily="18" charset="0"/>
                <a:cs typeface="Times New Roman" panose="02020603050405020304" pitchFamily="18" charset="0"/>
                <a:hlinkClick r:id="rId6"/>
              </a:rPr>
              <a:t>https://frameworks.securityalliance.org/secure-software-development/secure-code-repositories-version-control/?utm_source=chatgpt.com</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951873"/>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FD85E87A-7813-4F67-9E59-69B5487A1910}" vid="{BDF94C36-3ACF-4CF1-939F-F4211E6D666F}"/>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196</TotalTime>
  <Words>682</Words>
  <Application>Microsoft Office PowerPoint</Application>
  <PresentationFormat>Widescreen</PresentationFormat>
  <Paragraphs>90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Candara</vt:lpstr>
      <vt:lpstr>Consolas</vt:lpstr>
      <vt:lpstr>Times New Roman</vt:lpstr>
      <vt:lpstr>Tech Computer 16x9</vt:lpstr>
      <vt:lpstr>Security Controls in Shared Source Code Repositories</vt:lpstr>
      <vt:lpstr>Introduction</vt:lpstr>
      <vt:lpstr>Security Risks in Code Repositories</vt:lpstr>
      <vt:lpstr>Implement Strong Access Control</vt:lpstr>
      <vt:lpstr>Enable Multi-Factor Authentication (MFA)</vt:lpstr>
      <vt:lpstr>Protecting Code Integrity</vt:lpstr>
      <vt:lpstr>Preventing Secret Exposure</vt:lpstr>
      <vt:lpstr>Automated Security Scanning</vt:lpstr>
      <vt:lpstr>Monitoring and Auditing</vt:lpstr>
      <vt:lpstr>Conclusion of Security Controls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Macias</dc:creator>
  <cp:lastModifiedBy>Juan Macias</cp:lastModifiedBy>
  <cp:revision>9</cp:revision>
  <dcterms:created xsi:type="dcterms:W3CDTF">2026-03-07T00:28:09Z</dcterms:created>
  <dcterms:modified xsi:type="dcterms:W3CDTF">2026-03-07T08:48:17Z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